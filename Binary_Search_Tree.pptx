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anva Sans" panose="020B0604020202020204" charset="0"/>
      <p:regular r:id="rId17"/>
    </p:embeddedFont>
    <p:embeddedFont>
      <p:font typeface="Consolas Bold" panose="020B0709020204030204" pitchFamily="49" charset="0"/>
      <p:regular r:id="rId18"/>
      <p:bold r:id="rId19"/>
    </p:embeddedFont>
    <p:embeddedFont>
      <p:font typeface="Proxima Nova" panose="020B0604020202020204" charset="0"/>
      <p:regular r:id="rId20"/>
    </p:embeddedFont>
    <p:embeddedFont>
      <p:font typeface="Proxima Nova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6" d="100"/>
          <a:sy n="116" d="100"/>
        </p:scale>
        <p:origin x="663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202" y="724881"/>
            <a:ext cx="8959301" cy="4482113"/>
          </a:xfrm>
          <a:custGeom>
            <a:avLst/>
            <a:gdLst/>
            <a:ahLst/>
            <a:cxnLst/>
            <a:rect l="l" t="t" r="r" b="b"/>
            <a:pathLst>
              <a:path w="8959301" h="4482113">
                <a:moveTo>
                  <a:pt x="0" y="0"/>
                </a:moveTo>
                <a:lnTo>
                  <a:pt x="8959301" y="0"/>
                </a:lnTo>
                <a:lnTo>
                  <a:pt x="8959301" y="4482113"/>
                </a:lnTo>
                <a:lnTo>
                  <a:pt x="0" y="448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35378" y="951881"/>
            <a:ext cx="6073245" cy="77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52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Binary Search Trees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09205" y="2710024"/>
            <a:ext cx="92850" cy="7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 b="1">
                <a:solidFill>
                  <a:srgbClr val="5A1E5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3585" y="1951677"/>
            <a:ext cx="6996065" cy="238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2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: Md. Mehedi Hasan Arzu</a:t>
            </a:r>
          </a:p>
          <a:p>
            <a:pPr algn="l">
              <a:lnSpc>
                <a:spcPts val="3205"/>
              </a:lnSpc>
            </a:pPr>
            <a:r>
              <a:rPr lang="en-US" sz="22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              : 2410776121</a:t>
            </a:r>
          </a:p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    : Data Structure</a:t>
            </a:r>
          </a:p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Dept         : Computer Science and Engineering</a:t>
            </a:r>
          </a:p>
          <a:p>
            <a:pPr algn="l">
              <a:lnSpc>
                <a:spcPts val="3205"/>
              </a:lnSpc>
              <a:spcBef>
                <a:spcPct val="0"/>
              </a:spcBef>
            </a:pPr>
            <a:r>
              <a:rPr lang="en-US" sz="22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Institution : University of Rajshahi</a:t>
            </a:r>
          </a:p>
          <a:p>
            <a:pPr algn="l">
              <a:lnSpc>
                <a:spcPts val="3205"/>
              </a:lnSpc>
              <a:spcBef>
                <a:spcPct val="0"/>
              </a:spcBef>
            </a:pPr>
            <a:endParaRPr lang="en-US" sz="2289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3976" y="648655"/>
            <a:ext cx="1971624" cy="46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7"/>
              </a:lnSpc>
              <a:spcBef>
                <a:spcPct val="0"/>
              </a:spcBef>
            </a:pPr>
            <a:r>
              <a:rPr lang="en-US" sz="2755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Roadmap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5100" y="1671274"/>
            <a:ext cx="7494364" cy="229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5272" lvl="1" indent="-232636" algn="l">
              <a:lnSpc>
                <a:spcPts val="3017"/>
              </a:lnSpc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a Binary Search Tree (BST) ?</a:t>
            </a:r>
          </a:p>
          <a:p>
            <a:pPr marL="465272" lvl="1" indent="-232636" algn="l">
              <a:lnSpc>
                <a:spcPts val="3017"/>
              </a:lnSpc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Why Binary Search Tree instead of Binary Tree?</a:t>
            </a:r>
          </a:p>
          <a:p>
            <a:pPr marL="465272" lvl="1" indent="-232636" algn="l">
              <a:lnSpc>
                <a:spcPts val="3017"/>
              </a:lnSpc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Applications of BST.</a:t>
            </a:r>
          </a:p>
          <a:p>
            <a:pPr marL="465272" lvl="1" indent="-232636" algn="l">
              <a:lnSpc>
                <a:spcPts val="3017"/>
              </a:lnSpc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Searching in BST.</a:t>
            </a:r>
          </a:p>
          <a:p>
            <a:pPr marL="465272" lvl="1" indent="-232636" algn="l">
              <a:lnSpc>
                <a:spcPts val="3017"/>
              </a:lnSpc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Inserting in BST.</a:t>
            </a:r>
          </a:p>
          <a:p>
            <a:pPr marL="465272" lvl="1" indent="-232636" algn="l">
              <a:lnSpc>
                <a:spcPts val="3017"/>
              </a:lnSpc>
              <a:spcBef>
                <a:spcPct val="0"/>
              </a:spcBef>
              <a:buFont typeface="Arial"/>
              <a:buChar char="•"/>
            </a:pPr>
            <a:r>
              <a:rPr lang="en-US" sz="21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Deleting from BST.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7652" y="964713"/>
            <a:ext cx="8217049" cy="75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tree is a non-linear data structure that consists of nodes connected by edges, arranged in a hierarchical manner.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6663" y="309712"/>
            <a:ext cx="3484337" cy="445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a Tree?</a:t>
            </a:r>
          </a:p>
        </p:txBody>
      </p:sp>
      <p:sp>
        <p:nvSpPr>
          <p:cNvPr id="4" name="Freeform 4"/>
          <p:cNvSpPr/>
          <p:nvPr/>
        </p:nvSpPr>
        <p:spPr>
          <a:xfrm>
            <a:off x="2533621" y="2060448"/>
            <a:ext cx="2711005" cy="2282952"/>
          </a:xfrm>
          <a:custGeom>
            <a:avLst/>
            <a:gdLst/>
            <a:ahLst/>
            <a:cxnLst/>
            <a:rect l="l" t="t" r="r" b="b"/>
            <a:pathLst>
              <a:path w="2711005" h="2282952">
                <a:moveTo>
                  <a:pt x="0" y="0"/>
                </a:moveTo>
                <a:lnTo>
                  <a:pt x="2711006" y="0"/>
                </a:lnTo>
                <a:lnTo>
                  <a:pt x="2711006" y="2282952"/>
                </a:lnTo>
                <a:lnTo>
                  <a:pt x="0" y="2282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3990" t="-63592" r="-130242" b="-179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007416" y="2285434"/>
            <a:ext cx="351960" cy="366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  <a:spcBef>
                <a:spcPct val="0"/>
              </a:spcBef>
            </a:pPr>
            <a:r>
              <a:rPr lang="en-US" sz="2154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2401" y="3011837"/>
            <a:ext cx="323075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94810" y="3011837"/>
            <a:ext cx="400267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8572" y="3787318"/>
            <a:ext cx="329832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64003" y="2090561"/>
            <a:ext cx="538797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2009" y="3763504"/>
            <a:ext cx="636735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leaf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67142" y="2576336"/>
            <a:ext cx="2617629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edge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399972" y="3364190"/>
            <a:ext cx="577215" cy="101917"/>
            <a:chOff x="0" y="0"/>
            <a:chExt cx="769620" cy="135890"/>
          </a:xfrm>
        </p:grpSpPr>
        <p:sp>
          <p:nvSpPr>
            <p:cNvPr id="13" name="Freeform 13"/>
            <p:cNvSpPr/>
            <p:nvPr/>
          </p:nvSpPr>
          <p:spPr>
            <a:xfrm>
              <a:off x="46444" y="32738"/>
              <a:ext cx="671106" cy="78342"/>
            </a:xfrm>
            <a:custGeom>
              <a:avLst/>
              <a:gdLst/>
              <a:ahLst/>
              <a:cxnLst/>
              <a:rect l="l" t="t" r="r" b="b"/>
              <a:pathLst>
                <a:path w="671106" h="78342">
                  <a:moveTo>
                    <a:pt x="671106" y="18062"/>
                  </a:moveTo>
                  <a:cubicBezTo>
                    <a:pt x="630466" y="91722"/>
                    <a:pt x="58966" y="91722"/>
                    <a:pt x="10706" y="51082"/>
                  </a:cubicBezTo>
                  <a:cubicBezTo>
                    <a:pt x="-724" y="42192"/>
                    <a:pt x="-3264" y="26952"/>
                    <a:pt x="4356" y="18062"/>
                  </a:cubicBezTo>
                  <a:cubicBezTo>
                    <a:pt x="37376" y="-22578"/>
                    <a:pt x="671106" y="18062"/>
                    <a:pt x="671106" y="1806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65645" y="2145943"/>
            <a:ext cx="199072" cy="180022"/>
            <a:chOff x="0" y="0"/>
            <a:chExt cx="265430" cy="240030"/>
          </a:xfrm>
        </p:grpSpPr>
        <p:sp>
          <p:nvSpPr>
            <p:cNvPr id="15" name="Freeform 15"/>
            <p:cNvSpPr/>
            <p:nvPr/>
          </p:nvSpPr>
          <p:spPr>
            <a:xfrm>
              <a:off x="46711" y="50800"/>
              <a:ext cx="137559" cy="145418"/>
            </a:xfrm>
            <a:custGeom>
              <a:avLst/>
              <a:gdLst/>
              <a:ahLst/>
              <a:cxnLst/>
              <a:rect l="l" t="t" r="r" b="b"/>
              <a:pathLst>
                <a:path w="137559" h="145418">
                  <a:moveTo>
                    <a:pt x="136169" y="0"/>
                  </a:moveTo>
                  <a:cubicBezTo>
                    <a:pt x="150139" y="149860"/>
                    <a:pt x="54889" y="156210"/>
                    <a:pt x="28219" y="138430"/>
                  </a:cubicBezTo>
                  <a:cubicBezTo>
                    <a:pt x="6629" y="123190"/>
                    <a:pt x="-7341" y="71120"/>
                    <a:pt x="4089" y="48260"/>
                  </a:cubicBezTo>
                  <a:cubicBezTo>
                    <a:pt x="18059" y="20320"/>
                    <a:pt x="136169" y="0"/>
                    <a:pt x="136169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38022" y="2183090"/>
            <a:ext cx="321945" cy="315278"/>
            <a:chOff x="0" y="0"/>
            <a:chExt cx="429260" cy="420370"/>
          </a:xfrm>
        </p:grpSpPr>
        <p:sp>
          <p:nvSpPr>
            <p:cNvPr id="17" name="Freeform 17"/>
            <p:cNvSpPr/>
            <p:nvPr/>
          </p:nvSpPr>
          <p:spPr>
            <a:xfrm>
              <a:off x="50800" y="50800"/>
              <a:ext cx="327190" cy="321287"/>
            </a:xfrm>
            <a:custGeom>
              <a:avLst/>
              <a:gdLst/>
              <a:ahLst/>
              <a:cxnLst/>
              <a:rect l="l" t="t" r="r" b="b"/>
              <a:pathLst>
                <a:path w="327190" h="321287">
                  <a:moveTo>
                    <a:pt x="0" y="175260"/>
                  </a:moveTo>
                  <a:cubicBezTo>
                    <a:pt x="78740" y="76200"/>
                    <a:pt x="97790" y="55880"/>
                    <a:pt x="124460" y="39370"/>
                  </a:cubicBezTo>
                  <a:cubicBezTo>
                    <a:pt x="152400" y="21590"/>
                    <a:pt x="194310" y="0"/>
                    <a:pt x="224790" y="0"/>
                  </a:cubicBezTo>
                  <a:cubicBezTo>
                    <a:pt x="250190" y="1270"/>
                    <a:pt x="276860" y="12700"/>
                    <a:pt x="293370" y="30480"/>
                  </a:cubicBezTo>
                  <a:cubicBezTo>
                    <a:pt x="312420" y="50800"/>
                    <a:pt x="323850" y="85090"/>
                    <a:pt x="326390" y="116840"/>
                  </a:cubicBezTo>
                  <a:cubicBezTo>
                    <a:pt x="330200" y="153670"/>
                    <a:pt x="320040" y="204470"/>
                    <a:pt x="303530" y="238760"/>
                  </a:cubicBezTo>
                  <a:cubicBezTo>
                    <a:pt x="289560" y="270510"/>
                    <a:pt x="266700" y="308610"/>
                    <a:pt x="236220" y="318770"/>
                  </a:cubicBezTo>
                  <a:cubicBezTo>
                    <a:pt x="200660" y="331470"/>
                    <a:pt x="97790" y="292100"/>
                    <a:pt x="97790" y="289560"/>
                  </a:cubicBezTo>
                  <a:cubicBezTo>
                    <a:pt x="97790" y="289560"/>
                    <a:pt x="97790" y="289560"/>
                    <a:pt x="97790" y="288290"/>
                  </a:cubicBezTo>
                  <a:cubicBezTo>
                    <a:pt x="99060" y="287020"/>
                    <a:pt x="123190" y="267970"/>
                    <a:pt x="120650" y="262890"/>
                  </a:cubicBezTo>
                  <a:cubicBezTo>
                    <a:pt x="116840" y="256540"/>
                    <a:pt x="57150" y="288290"/>
                    <a:pt x="38100" y="276860"/>
                  </a:cubicBezTo>
                  <a:cubicBezTo>
                    <a:pt x="15240" y="264160"/>
                    <a:pt x="0" y="175260"/>
                    <a:pt x="0" y="1752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39928" y="2183090"/>
            <a:ext cx="320992" cy="336232"/>
            <a:chOff x="0" y="0"/>
            <a:chExt cx="427990" cy="448310"/>
          </a:xfrm>
        </p:grpSpPr>
        <p:sp>
          <p:nvSpPr>
            <p:cNvPr id="19" name="Freeform 19"/>
            <p:cNvSpPr/>
            <p:nvPr/>
          </p:nvSpPr>
          <p:spPr>
            <a:xfrm>
              <a:off x="50606" y="48287"/>
              <a:ext cx="327903" cy="352195"/>
            </a:xfrm>
            <a:custGeom>
              <a:avLst/>
              <a:gdLst/>
              <a:ahLst/>
              <a:cxnLst/>
              <a:rect l="l" t="t" r="r" b="b"/>
              <a:pathLst>
                <a:path w="327903" h="352195">
                  <a:moveTo>
                    <a:pt x="43374" y="26643"/>
                  </a:moveTo>
                  <a:cubicBezTo>
                    <a:pt x="137354" y="-2567"/>
                    <a:pt x="184344" y="-5107"/>
                    <a:pt x="216094" y="6323"/>
                  </a:cubicBezTo>
                  <a:cubicBezTo>
                    <a:pt x="244034" y="16483"/>
                    <a:pt x="269434" y="39343"/>
                    <a:pt x="287214" y="60933"/>
                  </a:cubicBezTo>
                  <a:cubicBezTo>
                    <a:pt x="302454" y="79983"/>
                    <a:pt x="312614" y="100303"/>
                    <a:pt x="318964" y="124433"/>
                  </a:cubicBezTo>
                  <a:cubicBezTo>
                    <a:pt x="327854" y="152373"/>
                    <a:pt x="330394" y="190473"/>
                    <a:pt x="325314" y="219683"/>
                  </a:cubicBezTo>
                  <a:cubicBezTo>
                    <a:pt x="321504" y="246353"/>
                    <a:pt x="313884" y="274293"/>
                    <a:pt x="299914" y="294613"/>
                  </a:cubicBezTo>
                  <a:cubicBezTo>
                    <a:pt x="283404" y="314933"/>
                    <a:pt x="259274" y="333983"/>
                    <a:pt x="233874" y="344143"/>
                  </a:cubicBezTo>
                  <a:cubicBezTo>
                    <a:pt x="207204" y="353033"/>
                    <a:pt x="170374" y="354303"/>
                    <a:pt x="142434" y="349223"/>
                  </a:cubicBezTo>
                  <a:cubicBezTo>
                    <a:pt x="117034" y="344143"/>
                    <a:pt x="95444" y="331443"/>
                    <a:pt x="72584" y="316203"/>
                  </a:cubicBezTo>
                  <a:cubicBezTo>
                    <a:pt x="47184" y="300963"/>
                    <a:pt x="2734" y="281913"/>
                    <a:pt x="194" y="256513"/>
                  </a:cubicBezTo>
                  <a:cubicBezTo>
                    <a:pt x="-3616" y="226033"/>
                    <a:pt x="49724" y="148563"/>
                    <a:pt x="81474" y="143483"/>
                  </a:cubicBezTo>
                  <a:cubicBezTo>
                    <a:pt x="111954" y="138403"/>
                    <a:pt x="177994" y="224763"/>
                    <a:pt x="186884" y="218413"/>
                  </a:cubicBezTo>
                  <a:cubicBezTo>
                    <a:pt x="194504" y="212063"/>
                    <a:pt x="171644" y="142213"/>
                    <a:pt x="153864" y="134593"/>
                  </a:cubicBezTo>
                  <a:cubicBezTo>
                    <a:pt x="138624" y="126973"/>
                    <a:pt x="109414" y="166343"/>
                    <a:pt x="92904" y="158723"/>
                  </a:cubicBezTo>
                  <a:cubicBezTo>
                    <a:pt x="68774" y="147293"/>
                    <a:pt x="43374" y="26643"/>
                    <a:pt x="43374" y="2664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92340" y="2293580"/>
            <a:ext cx="202883" cy="196215"/>
            <a:chOff x="0" y="0"/>
            <a:chExt cx="270510" cy="261620"/>
          </a:xfrm>
        </p:grpSpPr>
        <p:sp>
          <p:nvSpPr>
            <p:cNvPr id="21" name="Freeform 21"/>
            <p:cNvSpPr/>
            <p:nvPr/>
          </p:nvSpPr>
          <p:spPr>
            <a:xfrm>
              <a:off x="50743" y="50800"/>
              <a:ext cx="116961" cy="158969"/>
            </a:xfrm>
            <a:custGeom>
              <a:avLst/>
              <a:gdLst/>
              <a:ahLst/>
              <a:cxnLst/>
              <a:rect l="l" t="t" r="r" b="b"/>
              <a:pathLst>
                <a:path w="116961" h="158969">
                  <a:moveTo>
                    <a:pt x="81337" y="0"/>
                  </a:moveTo>
                  <a:cubicBezTo>
                    <a:pt x="165157" y="116840"/>
                    <a:pt x="78797" y="162560"/>
                    <a:pt x="48317" y="158750"/>
                  </a:cubicBezTo>
                  <a:cubicBezTo>
                    <a:pt x="27997" y="157480"/>
                    <a:pt x="2597" y="134620"/>
                    <a:pt x="57" y="115570"/>
                  </a:cubicBezTo>
                  <a:cubicBezTo>
                    <a:pt x="-2483" y="86360"/>
                    <a:pt x="81337" y="0"/>
                    <a:pt x="81337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69493" y="2351683"/>
            <a:ext cx="112395" cy="143828"/>
            <a:chOff x="0" y="0"/>
            <a:chExt cx="149860" cy="191770"/>
          </a:xfrm>
        </p:grpSpPr>
        <p:sp>
          <p:nvSpPr>
            <p:cNvPr id="23" name="Freeform 23"/>
            <p:cNvSpPr/>
            <p:nvPr/>
          </p:nvSpPr>
          <p:spPr>
            <a:xfrm>
              <a:off x="49722" y="50662"/>
              <a:ext cx="49338" cy="90061"/>
            </a:xfrm>
            <a:custGeom>
              <a:avLst/>
              <a:gdLst/>
              <a:ahLst/>
              <a:cxnLst/>
              <a:rect l="l" t="t" r="r" b="b"/>
              <a:pathLst>
                <a:path w="49338" h="90061">
                  <a:moveTo>
                    <a:pt x="49338" y="12838"/>
                  </a:moveTo>
                  <a:cubicBezTo>
                    <a:pt x="21398" y="34428"/>
                    <a:pt x="21398" y="83958"/>
                    <a:pt x="13778" y="89038"/>
                  </a:cubicBezTo>
                  <a:cubicBezTo>
                    <a:pt x="9968" y="91578"/>
                    <a:pt x="3618" y="89038"/>
                    <a:pt x="1078" y="85228"/>
                  </a:cubicBezTo>
                  <a:cubicBezTo>
                    <a:pt x="-4002" y="76338"/>
                    <a:pt x="9968" y="30618"/>
                    <a:pt x="20128" y="16648"/>
                  </a:cubicBezTo>
                  <a:cubicBezTo>
                    <a:pt x="26478" y="6488"/>
                    <a:pt x="41718" y="-1132"/>
                    <a:pt x="45528" y="138"/>
                  </a:cubicBezTo>
                  <a:cubicBezTo>
                    <a:pt x="49338" y="1408"/>
                    <a:pt x="49338" y="12838"/>
                    <a:pt x="49338" y="1283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55205" y="2293580"/>
            <a:ext cx="170498" cy="226695"/>
            <a:chOff x="0" y="0"/>
            <a:chExt cx="227330" cy="302260"/>
          </a:xfrm>
        </p:grpSpPr>
        <p:sp>
          <p:nvSpPr>
            <p:cNvPr id="25" name="Freeform 25"/>
            <p:cNvSpPr/>
            <p:nvPr/>
          </p:nvSpPr>
          <p:spPr>
            <a:xfrm>
              <a:off x="50601" y="50764"/>
              <a:ext cx="130826" cy="200705"/>
            </a:xfrm>
            <a:custGeom>
              <a:avLst/>
              <a:gdLst/>
              <a:ahLst/>
              <a:cxnLst/>
              <a:rect l="l" t="t" r="r" b="b"/>
              <a:pathLst>
                <a:path w="130826" h="200705">
                  <a:moveTo>
                    <a:pt x="30679" y="12736"/>
                  </a:moveTo>
                  <a:cubicBezTo>
                    <a:pt x="14169" y="92746"/>
                    <a:pt x="38299" y="119416"/>
                    <a:pt x="42109" y="134656"/>
                  </a:cubicBezTo>
                  <a:cubicBezTo>
                    <a:pt x="43379" y="142276"/>
                    <a:pt x="45919" y="149896"/>
                    <a:pt x="43379" y="152436"/>
                  </a:cubicBezTo>
                  <a:cubicBezTo>
                    <a:pt x="40839" y="154976"/>
                    <a:pt x="34489" y="154976"/>
                    <a:pt x="31949" y="151166"/>
                  </a:cubicBezTo>
                  <a:cubicBezTo>
                    <a:pt x="23059" y="142276"/>
                    <a:pt x="24329" y="80046"/>
                    <a:pt x="31949" y="53376"/>
                  </a:cubicBezTo>
                  <a:cubicBezTo>
                    <a:pt x="38299" y="31786"/>
                    <a:pt x="54809" y="-1234"/>
                    <a:pt x="66239" y="36"/>
                  </a:cubicBezTo>
                  <a:cubicBezTo>
                    <a:pt x="86559" y="2576"/>
                    <a:pt x="132279" y="175296"/>
                    <a:pt x="124659" y="193076"/>
                  </a:cubicBezTo>
                  <a:cubicBezTo>
                    <a:pt x="122119" y="196886"/>
                    <a:pt x="115769" y="199426"/>
                    <a:pt x="111959" y="198156"/>
                  </a:cubicBezTo>
                  <a:cubicBezTo>
                    <a:pt x="104339" y="191806"/>
                    <a:pt x="104339" y="101636"/>
                    <a:pt x="113229" y="90206"/>
                  </a:cubicBezTo>
                  <a:cubicBezTo>
                    <a:pt x="117039" y="86396"/>
                    <a:pt x="124659" y="85126"/>
                    <a:pt x="125929" y="86396"/>
                  </a:cubicBezTo>
                  <a:cubicBezTo>
                    <a:pt x="128469" y="90206"/>
                    <a:pt x="105609" y="133386"/>
                    <a:pt x="96719" y="135926"/>
                  </a:cubicBezTo>
                  <a:cubicBezTo>
                    <a:pt x="92909" y="137196"/>
                    <a:pt x="86559" y="130846"/>
                    <a:pt x="86559" y="130846"/>
                  </a:cubicBezTo>
                  <a:cubicBezTo>
                    <a:pt x="86559" y="130846"/>
                    <a:pt x="96719" y="135926"/>
                    <a:pt x="96719" y="135926"/>
                  </a:cubicBezTo>
                  <a:cubicBezTo>
                    <a:pt x="96719" y="135926"/>
                    <a:pt x="87829" y="133386"/>
                    <a:pt x="86559" y="130846"/>
                  </a:cubicBezTo>
                  <a:cubicBezTo>
                    <a:pt x="85289" y="124496"/>
                    <a:pt x="95449" y="109256"/>
                    <a:pt x="103069" y="101636"/>
                  </a:cubicBezTo>
                  <a:cubicBezTo>
                    <a:pt x="109419" y="95286"/>
                    <a:pt x="120849" y="85126"/>
                    <a:pt x="125929" y="88936"/>
                  </a:cubicBezTo>
                  <a:cubicBezTo>
                    <a:pt x="136089" y="95286"/>
                    <a:pt x="128469" y="199426"/>
                    <a:pt x="120849" y="200696"/>
                  </a:cubicBezTo>
                  <a:cubicBezTo>
                    <a:pt x="109419" y="201966"/>
                    <a:pt x="62429" y="77506"/>
                    <a:pt x="58619" y="40676"/>
                  </a:cubicBezTo>
                  <a:cubicBezTo>
                    <a:pt x="57349" y="22896"/>
                    <a:pt x="67509" y="36"/>
                    <a:pt x="66239" y="36"/>
                  </a:cubicBezTo>
                  <a:cubicBezTo>
                    <a:pt x="64969" y="36"/>
                    <a:pt x="49729" y="33056"/>
                    <a:pt x="44649" y="54646"/>
                  </a:cubicBezTo>
                  <a:cubicBezTo>
                    <a:pt x="39569" y="81316"/>
                    <a:pt x="52269" y="142276"/>
                    <a:pt x="43379" y="151166"/>
                  </a:cubicBezTo>
                  <a:cubicBezTo>
                    <a:pt x="40839" y="153706"/>
                    <a:pt x="35759" y="153706"/>
                    <a:pt x="31949" y="151166"/>
                  </a:cubicBezTo>
                  <a:cubicBezTo>
                    <a:pt x="20519" y="144816"/>
                    <a:pt x="2739" y="92746"/>
                    <a:pt x="199" y="69886"/>
                  </a:cubicBezTo>
                  <a:cubicBezTo>
                    <a:pt x="-1071" y="53376"/>
                    <a:pt x="4009" y="36866"/>
                    <a:pt x="7819" y="25436"/>
                  </a:cubicBezTo>
                  <a:cubicBezTo>
                    <a:pt x="11629" y="17816"/>
                    <a:pt x="15439" y="7656"/>
                    <a:pt x="19249" y="6386"/>
                  </a:cubicBezTo>
                  <a:cubicBezTo>
                    <a:pt x="23059" y="5116"/>
                    <a:pt x="30679" y="12736"/>
                    <a:pt x="30679" y="1273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87578" y="2251670"/>
            <a:ext cx="120015" cy="117158"/>
            <a:chOff x="0" y="0"/>
            <a:chExt cx="160020" cy="156210"/>
          </a:xfrm>
        </p:grpSpPr>
        <p:sp>
          <p:nvSpPr>
            <p:cNvPr id="27" name="Freeform 27"/>
            <p:cNvSpPr/>
            <p:nvPr/>
          </p:nvSpPr>
          <p:spPr>
            <a:xfrm>
              <a:off x="48755" y="48513"/>
              <a:ext cx="60465" cy="50273"/>
            </a:xfrm>
            <a:custGeom>
              <a:avLst/>
              <a:gdLst/>
              <a:ahLst/>
              <a:cxnLst/>
              <a:rect l="l" t="t" r="r" b="b"/>
              <a:pathLst>
                <a:path w="60465" h="50273">
                  <a:moveTo>
                    <a:pt x="60465" y="17527"/>
                  </a:moveTo>
                  <a:cubicBezTo>
                    <a:pt x="32525" y="60707"/>
                    <a:pt x="8395" y="51817"/>
                    <a:pt x="2045" y="42927"/>
                  </a:cubicBezTo>
                  <a:cubicBezTo>
                    <a:pt x="-3035" y="34037"/>
                    <a:pt x="2045" y="8637"/>
                    <a:pt x="9665" y="2287"/>
                  </a:cubicBezTo>
                  <a:cubicBezTo>
                    <a:pt x="18555" y="-4063"/>
                    <a:pt x="51575" y="4827"/>
                    <a:pt x="51575" y="482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83730" y="2302153"/>
            <a:ext cx="120015" cy="117158"/>
            <a:chOff x="0" y="0"/>
            <a:chExt cx="160020" cy="156210"/>
          </a:xfrm>
        </p:grpSpPr>
        <p:sp>
          <p:nvSpPr>
            <p:cNvPr id="29" name="Freeform 29"/>
            <p:cNvSpPr/>
            <p:nvPr/>
          </p:nvSpPr>
          <p:spPr>
            <a:xfrm>
              <a:off x="48755" y="48513"/>
              <a:ext cx="60465" cy="51085"/>
            </a:xfrm>
            <a:custGeom>
              <a:avLst/>
              <a:gdLst/>
              <a:ahLst/>
              <a:cxnLst/>
              <a:rect l="l" t="t" r="r" b="b"/>
              <a:pathLst>
                <a:path w="60465" h="51085">
                  <a:moveTo>
                    <a:pt x="60465" y="17527"/>
                  </a:moveTo>
                  <a:cubicBezTo>
                    <a:pt x="32525" y="60707"/>
                    <a:pt x="8395" y="53087"/>
                    <a:pt x="2045" y="44197"/>
                  </a:cubicBezTo>
                  <a:cubicBezTo>
                    <a:pt x="-3035" y="34037"/>
                    <a:pt x="2045" y="8637"/>
                    <a:pt x="9665" y="2287"/>
                  </a:cubicBezTo>
                  <a:cubicBezTo>
                    <a:pt x="18555" y="-4063"/>
                    <a:pt x="51575" y="4827"/>
                    <a:pt x="51575" y="482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31368" y="2271673"/>
            <a:ext cx="120015" cy="117158"/>
            <a:chOff x="0" y="0"/>
            <a:chExt cx="160020" cy="156210"/>
          </a:xfrm>
        </p:grpSpPr>
        <p:sp>
          <p:nvSpPr>
            <p:cNvPr id="31" name="Freeform 31"/>
            <p:cNvSpPr/>
            <p:nvPr/>
          </p:nvSpPr>
          <p:spPr>
            <a:xfrm>
              <a:off x="47924" y="48513"/>
              <a:ext cx="60026" cy="51085"/>
            </a:xfrm>
            <a:custGeom>
              <a:avLst/>
              <a:gdLst/>
              <a:ahLst/>
              <a:cxnLst/>
              <a:rect l="l" t="t" r="r" b="b"/>
              <a:pathLst>
                <a:path w="60026" h="51085">
                  <a:moveTo>
                    <a:pt x="60026" y="17527"/>
                  </a:moveTo>
                  <a:cubicBezTo>
                    <a:pt x="33356" y="60707"/>
                    <a:pt x="7956" y="53087"/>
                    <a:pt x="2876" y="44197"/>
                  </a:cubicBezTo>
                  <a:cubicBezTo>
                    <a:pt x="-3474" y="35307"/>
                    <a:pt x="1606" y="8637"/>
                    <a:pt x="9226" y="2287"/>
                  </a:cubicBezTo>
                  <a:cubicBezTo>
                    <a:pt x="18116" y="-4063"/>
                    <a:pt x="52406" y="4827"/>
                    <a:pt x="52406" y="482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97090" y="2453600"/>
            <a:ext cx="120015" cy="117158"/>
            <a:chOff x="0" y="0"/>
            <a:chExt cx="160020" cy="156210"/>
          </a:xfrm>
        </p:grpSpPr>
        <p:sp>
          <p:nvSpPr>
            <p:cNvPr id="33" name="Freeform 33"/>
            <p:cNvSpPr/>
            <p:nvPr/>
          </p:nvSpPr>
          <p:spPr>
            <a:xfrm>
              <a:off x="47963" y="48513"/>
              <a:ext cx="59987" cy="51167"/>
            </a:xfrm>
            <a:custGeom>
              <a:avLst/>
              <a:gdLst/>
              <a:ahLst/>
              <a:cxnLst/>
              <a:rect l="l" t="t" r="r" b="b"/>
              <a:pathLst>
                <a:path w="59987" h="51167">
                  <a:moveTo>
                    <a:pt x="59987" y="18797"/>
                  </a:moveTo>
                  <a:cubicBezTo>
                    <a:pt x="33317" y="60707"/>
                    <a:pt x="7917" y="53087"/>
                    <a:pt x="2837" y="44197"/>
                  </a:cubicBezTo>
                  <a:cubicBezTo>
                    <a:pt x="-3513" y="35307"/>
                    <a:pt x="1567" y="9907"/>
                    <a:pt x="10457" y="2287"/>
                  </a:cubicBezTo>
                  <a:cubicBezTo>
                    <a:pt x="18077" y="-4063"/>
                    <a:pt x="52367" y="4827"/>
                    <a:pt x="52367" y="482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AutoShape 34"/>
          <p:cNvSpPr/>
          <p:nvPr/>
        </p:nvSpPr>
        <p:spPr>
          <a:xfrm>
            <a:off x="4452716" y="2323534"/>
            <a:ext cx="161603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3358762" y="4003534"/>
            <a:ext cx="28814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>
            <a:off x="4623064" y="2793506"/>
            <a:ext cx="144568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706663" y="964713"/>
            <a:ext cx="1533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  <p:sp>
        <p:nvSpPr>
          <p:cNvPr id="38" name="AutoShape 38"/>
          <p:cNvSpPr/>
          <p:nvPr/>
        </p:nvSpPr>
        <p:spPr>
          <a:xfrm>
            <a:off x="1823139" y="3998770"/>
            <a:ext cx="710226" cy="9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>
            <a:off x="1823139" y="2419310"/>
            <a:ext cx="190805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V="1">
            <a:off x="1823139" y="3182874"/>
            <a:ext cx="133764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027652" y="3829734"/>
            <a:ext cx="840319" cy="28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  <a:spcBef>
                <a:spcPct val="0"/>
              </a:spcBef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Level 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7652" y="3047175"/>
            <a:ext cx="974512" cy="28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  <a:spcBef>
                <a:spcPct val="0"/>
              </a:spcBef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Level 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7652" y="2252178"/>
            <a:ext cx="1139985" cy="28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  <a:spcBef>
                <a:spcPct val="0"/>
              </a:spcBef>
            </a:pPr>
            <a:r>
              <a:rPr lang="en-US" sz="16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Level 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7641" y="4572000"/>
            <a:ext cx="7108718" cy="33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sz="19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Height of the tree  = Longest path between root and leaf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6663" y="4572000"/>
            <a:ext cx="15335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1696" y="445027"/>
            <a:ext cx="8520598" cy="572700"/>
          </a:xfrm>
          <a:custGeom>
            <a:avLst/>
            <a:gdLst/>
            <a:ahLst/>
            <a:cxnLst/>
            <a:rect l="l" t="t" r="r" b="b"/>
            <a:pathLst>
              <a:path w="8520598" h="572700">
                <a:moveTo>
                  <a:pt x="0" y="0"/>
                </a:moveTo>
                <a:lnTo>
                  <a:pt x="8520598" y="0"/>
                </a:lnTo>
                <a:lnTo>
                  <a:pt x="8520598" y="572700"/>
                </a:lnTo>
                <a:lnTo>
                  <a:pt x="0" y="5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4336" y="387877"/>
            <a:ext cx="5681663" cy="455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is a Binary Search tree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350" y="989152"/>
            <a:ext cx="8061455" cy="281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Binary Search Tree (BST) is a type of binary tree data structure in which each node contains a unique key and satisfies a specific ordering property:</a:t>
            </a:r>
          </a:p>
          <a:p>
            <a:pPr marL="388620" lvl="1" indent="-194310" algn="l">
              <a:lnSpc>
                <a:spcPts val="2475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All nodes in the left subtree of a node contain values strictly less than the node’s value. </a:t>
            </a:r>
          </a:p>
          <a:p>
            <a:pPr marL="388620" lvl="1" indent="-194310" algn="l">
              <a:lnSpc>
                <a:spcPts val="2475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All nodes in the right subtree of a node contain values strictly greater than the node’s value.</a:t>
            </a:r>
          </a:p>
          <a:p>
            <a:pPr algn="l">
              <a:lnSpc>
                <a:spcPts val="2475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This structure enables efficient operations for searching, insertion, and deletion of elements, especially when the tree remains balanced.</a:t>
            </a:r>
          </a:p>
          <a:p>
            <a:pPr algn="l">
              <a:lnSpc>
                <a:spcPts val="2475"/>
              </a:lnSpc>
            </a:pPr>
            <a:endParaRPr lang="en-US" sz="18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34554" y="3682679"/>
            <a:ext cx="2199481" cy="32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50" b="1" spc="1">
                <a:solidFill>
                  <a:srgbClr val="3F51B5"/>
                </a:solidFill>
                <a:latin typeface="Consolas Bold"/>
                <a:ea typeface="Consolas Bold"/>
                <a:cs typeface="Consolas Bold"/>
                <a:sym typeface="Consolas Bold"/>
              </a:rPr>
              <a:t>struct</a:t>
            </a:r>
            <a:r>
              <a:rPr lang="en-US" sz="1850" b="1" spc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  <a:r>
              <a:rPr lang="en-US" sz="1850" b="1" spc="1">
                <a:solidFill>
                  <a:srgbClr val="9C27B0"/>
                </a:solidFill>
                <a:latin typeface="Consolas Bold"/>
                <a:ea typeface="Consolas Bold"/>
                <a:cs typeface="Consolas Bold"/>
                <a:sym typeface="Consolas Bold"/>
              </a:rPr>
              <a:t>TreeNode</a:t>
            </a:r>
            <a:r>
              <a:rPr lang="en-US" sz="1850" b="1" spc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34554" y="3968429"/>
            <a:ext cx="131569" cy="1175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9"/>
              </a:lnSpc>
            </a:pPr>
            <a:r>
              <a:rPr lang="en-US" sz="1850" b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</a:p>
          <a:p>
            <a:pPr algn="just">
              <a:lnSpc>
                <a:spcPts val="2249"/>
              </a:lnSpc>
            </a:pPr>
            <a:r>
              <a:rPr lang="en-US" sz="1850" b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</a:p>
          <a:p>
            <a:pPr algn="just">
              <a:lnSpc>
                <a:spcPts val="2249"/>
              </a:lnSpc>
            </a:pPr>
            <a:r>
              <a:rPr lang="en-US" sz="1850" b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</a:p>
          <a:p>
            <a:pPr algn="just">
              <a:lnSpc>
                <a:spcPts val="2249"/>
              </a:lnSpc>
            </a:pPr>
            <a:r>
              <a:rPr lang="en-US" sz="1850" b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0504" y="3968429"/>
            <a:ext cx="2105073" cy="88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50" b="1">
                <a:solidFill>
                  <a:srgbClr val="37474F"/>
                </a:solidFill>
                <a:latin typeface="Consolas Bold"/>
                <a:ea typeface="Consolas Bold"/>
                <a:cs typeface="Consolas Bold"/>
                <a:sym typeface="Consolas Bold"/>
              </a:rPr>
              <a:t>string data; TreeNode* left; TreeNode* right;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978" y="466725"/>
            <a:ext cx="6181822" cy="430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7"/>
              </a:lnSpc>
              <a:spcBef>
                <a:spcPct val="0"/>
              </a:spcBef>
            </a:pPr>
            <a:r>
              <a:rPr lang="en-US" sz="2555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Applications of Binary Search Tree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1202183"/>
            <a:ext cx="6291977" cy="308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093" lvl="1" indent="-211047" algn="l">
              <a:lnSpc>
                <a:spcPts val="2737"/>
              </a:lnSpc>
              <a:buAutoNum type="arabicPeriod"/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fast searching</a:t>
            </a:r>
          </a:p>
          <a:p>
            <a:pPr marL="422093" lvl="1" indent="-211047" algn="l">
              <a:lnSpc>
                <a:spcPts val="2737"/>
              </a:lnSpc>
              <a:buAutoNum type="arabicPeriod"/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Implementing Data Structures, such as</a:t>
            </a:r>
          </a:p>
          <a:p>
            <a:pPr algn="l">
              <a:lnSpc>
                <a:spcPts val="2737"/>
              </a:lnSpc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</a:t>
            </a:r>
          </a:p>
          <a:p>
            <a:pPr algn="l">
              <a:lnSpc>
                <a:spcPts val="2737"/>
              </a:lnSpc>
            </a:pPr>
            <a:endParaRPr lang="en-US" sz="1955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l">
              <a:lnSpc>
                <a:spcPts val="2737"/>
              </a:lnSpc>
            </a:pPr>
            <a:endParaRPr lang="en-US" sz="1955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l">
              <a:lnSpc>
                <a:spcPts val="2737"/>
              </a:lnSpc>
            </a:pPr>
            <a:endParaRPr lang="en-US" sz="1955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l">
              <a:lnSpc>
                <a:spcPts val="2737"/>
              </a:lnSpc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3.  Auto-complete and Searching Words</a:t>
            </a:r>
          </a:p>
          <a:p>
            <a:pPr algn="l">
              <a:lnSpc>
                <a:spcPts val="2737"/>
              </a:lnSpc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4.  Database Indexing to keep data balanced and fast</a:t>
            </a:r>
          </a:p>
          <a:p>
            <a:pPr algn="l">
              <a:lnSpc>
                <a:spcPts val="2737"/>
              </a:lnSpc>
              <a:spcBef>
                <a:spcPct val="0"/>
              </a:spcBef>
            </a:pPr>
            <a:r>
              <a:rPr lang="en-US" sz="19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5.  File System Navigation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3043" y="1965788"/>
            <a:ext cx="6291977" cy="102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093" lvl="1" indent="-211047" algn="l">
              <a:lnSpc>
                <a:spcPts val="2737"/>
              </a:lnSpc>
              <a:buFont typeface="Arial"/>
              <a:buChar char="•"/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Sets</a:t>
            </a:r>
          </a:p>
          <a:p>
            <a:pPr marL="422093" lvl="1" indent="-211047" algn="l">
              <a:lnSpc>
                <a:spcPts val="2737"/>
              </a:lnSpc>
              <a:buFont typeface="Arial"/>
              <a:buChar char="•"/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Maps</a:t>
            </a:r>
          </a:p>
          <a:p>
            <a:pPr marL="422093" lvl="1" indent="-211047" algn="l">
              <a:lnSpc>
                <a:spcPts val="2737"/>
              </a:lnSpc>
              <a:spcBef>
                <a:spcPct val="0"/>
              </a:spcBef>
              <a:buFont typeface="Arial"/>
              <a:buChar char="•"/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Priority queues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4941" y="1757718"/>
            <a:ext cx="780085" cy="761184"/>
          </a:xfrm>
          <a:custGeom>
            <a:avLst/>
            <a:gdLst/>
            <a:ahLst/>
            <a:cxnLst/>
            <a:rect l="l" t="t" r="r" b="b"/>
            <a:pathLst>
              <a:path w="780085" h="761184">
                <a:moveTo>
                  <a:pt x="0" y="0"/>
                </a:moveTo>
                <a:lnTo>
                  <a:pt x="780085" y="0"/>
                </a:lnTo>
                <a:lnTo>
                  <a:pt x="780085" y="761184"/>
                </a:lnTo>
                <a:lnTo>
                  <a:pt x="0" y="7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1696" y="-244126"/>
            <a:ext cx="8520598" cy="572700"/>
          </a:xfrm>
          <a:custGeom>
            <a:avLst/>
            <a:gdLst/>
            <a:ahLst/>
            <a:cxnLst/>
            <a:rect l="l" t="t" r="r" b="b"/>
            <a:pathLst>
              <a:path w="8520598" h="572700">
                <a:moveTo>
                  <a:pt x="0" y="0"/>
                </a:moveTo>
                <a:lnTo>
                  <a:pt x="8520598" y="0"/>
                </a:lnTo>
                <a:lnTo>
                  <a:pt x="8520598" y="572700"/>
                </a:lnTo>
                <a:lnTo>
                  <a:pt x="0" y="57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835435" y="1310625"/>
            <a:ext cx="3993584" cy="3569899"/>
          </a:xfrm>
          <a:custGeom>
            <a:avLst/>
            <a:gdLst/>
            <a:ahLst/>
            <a:cxnLst/>
            <a:rect l="l" t="t" r="r" b="b"/>
            <a:pathLst>
              <a:path w="3993584" h="3569899">
                <a:moveTo>
                  <a:pt x="0" y="0"/>
                </a:moveTo>
                <a:lnTo>
                  <a:pt x="3993585" y="0"/>
                </a:lnTo>
                <a:lnTo>
                  <a:pt x="3993585" y="3569900"/>
                </a:lnTo>
                <a:lnTo>
                  <a:pt x="0" y="356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011540" y="3726412"/>
            <a:ext cx="390518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8749" y="1945834"/>
            <a:ext cx="385201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5578" y="2748885"/>
            <a:ext cx="387984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4037" y="4338549"/>
            <a:ext cx="235275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90069" y="3527315"/>
            <a:ext cx="326697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92301" y="2111360"/>
            <a:ext cx="368234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46590" y="4140228"/>
            <a:ext cx="371276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80190" y="2902101"/>
            <a:ext cx="376593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8910" y="1498457"/>
            <a:ext cx="227175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89462" y="3610078"/>
            <a:ext cx="390518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2229" y="2434261"/>
            <a:ext cx="321380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47668" y="4140228"/>
            <a:ext cx="381911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05330" y="3133972"/>
            <a:ext cx="298330" cy="34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7"/>
              </a:lnSpc>
            </a:pPr>
            <a:r>
              <a:rPr lang="en-US" sz="19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4350" y="281744"/>
            <a:ext cx="81153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Binary Search Tree instead of Binary Tree?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5314" y="1570979"/>
            <a:ext cx="7973371" cy="3240560"/>
          </a:xfrm>
          <a:custGeom>
            <a:avLst/>
            <a:gdLst/>
            <a:ahLst/>
            <a:cxnLst/>
            <a:rect l="l" t="t" r="r" b="b"/>
            <a:pathLst>
              <a:path w="7973371" h="3240560">
                <a:moveTo>
                  <a:pt x="0" y="0"/>
                </a:moveTo>
                <a:lnTo>
                  <a:pt x="7973372" y="0"/>
                </a:lnTo>
                <a:lnTo>
                  <a:pt x="7973372" y="3240560"/>
                </a:lnTo>
                <a:lnTo>
                  <a:pt x="0" y="3240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117762" y="3388080"/>
            <a:ext cx="264237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27616" y="3388071"/>
            <a:ext cx="187515" cy="2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1850" y="4318466"/>
            <a:ext cx="325549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27400" y="2442985"/>
            <a:ext cx="391999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4924" y="2442985"/>
            <a:ext cx="391998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8587" y="3388080"/>
            <a:ext cx="295755" cy="2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88330" y="4318466"/>
            <a:ext cx="488870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2832" y="4318466"/>
            <a:ext cx="419768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7766" y="3388071"/>
            <a:ext cx="354633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5201" y="4318466"/>
            <a:ext cx="471278" cy="2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41700" y="4318466"/>
            <a:ext cx="300084" cy="2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11481" y="1713333"/>
            <a:ext cx="256042" cy="2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16968" y="4318466"/>
            <a:ext cx="306952" cy="2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5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2479" y="553879"/>
            <a:ext cx="1934210" cy="4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6"/>
              </a:lnSpc>
              <a:spcBef>
                <a:spcPct val="0"/>
              </a:spcBef>
            </a:pPr>
            <a:r>
              <a:rPr lang="en-US" sz="281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Binary Tree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0623" y="572929"/>
            <a:ext cx="2134766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Search  =  O(n)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  =  O(n)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 =  O(n)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Traversal  =  O(n)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093" y="1591856"/>
            <a:ext cx="7795814" cy="3168397"/>
          </a:xfrm>
          <a:custGeom>
            <a:avLst/>
            <a:gdLst/>
            <a:ahLst/>
            <a:cxnLst/>
            <a:rect l="l" t="t" r="r" b="b"/>
            <a:pathLst>
              <a:path w="7795814" h="3168397">
                <a:moveTo>
                  <a:pt x="0" y="0"/>
                </a:moveTo>
                <a:lnTo>
                  <a:pt x="7795814" y="0"/>
                </a:lnTo>
                <a:lnTo>
                  <a:pt x="7795814" y="3168396"/>
                </a:lnTo>
                <a:lnTo>
                  <a:pt x="0" y="316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20690" y="4277312"/>
            <a:ext cx="298510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3869" y="3367644"/>
            <a:ext cx="195309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5098" y="4277312"/>
            <a:ext cx="247713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5159" y="2443595"/>
            <a:ext cx="344241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46409" y="4277303"/>
            <a:ext cx="324056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00762" y="3367635"/>
            <a:ext cx="308145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96278" y="1753321"/>
            <a:ext cx="356722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30120" y="4277312"/>
            <a:ext cx="324056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8754" y="3367644"/>
            <a:ext cx="431045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14636" y="4277312"/>
            <a:ext cx="443138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8228" y="2443586"/>
            <a:ext cx="354571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7734" y="4277312"/>
            <a:ext cx="367066" cy="268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0515" y="3367644"/>
            <a:ext cx="319676" cy="28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441" y="466725"/>
            <a:ext cx="4500159" cy="454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8"/>
              </a:lnSpc>
              <a:spcBef>
                <a:spcPct val="0"/>
              </a:spcBef>
            </a:pPr>
            <a:r>
              <a:rPr lang="en-US" sz="272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Binary Search Tree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8229" y="476250"/>
            <a:ext cx="2134766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Search  =  O(log h)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  =  O(log h)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 =  O(log h)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Traversal  =  O(n)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3176" y="1035157"/>
            <a:ext cx="410086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h  =  height of the tree </a:t>
            </a: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n  =  number of nodes in the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1209439"/>
            <a:ext cx="7662013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BST-Search(</a:t>
            </a:r>
            <a:r>
              <a:rPr lang="en-US" sz="1800" b="1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8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, item)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while (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!= NULL)  do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       if (data[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== item)           return(“Search successful!”)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        else if (data[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&lt; item)    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right[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4.        else if (data[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&gt; item)    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left[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5. return (“Not found!”)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3219467"/>
            <a:ext cx="7047406" cy="20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BST-Insert(</a:t>
            </a:r>
            <a:r>
              <a:rPr lang="en-US" sz="1800" b="1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800" b="1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, item)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if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NULL then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goto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step 5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while (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!= NULL) do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          if (data[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&lt; item)           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right[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4.          else if (data[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&gt; item)    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left[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</a:p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5. data[</a:t>
            </a:r>
            <a:r>
              <a:rPr lang="en-US" sz="1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= item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14350" y="700287"/>
            <a:ext cx="585184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Here </a:t>
            </a:r>
            <a:r>
              <a:rPr lang="en-US" sz="18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ptr</a:t>
            </a:r>
            <a:r>
              <a:rPr lang="en-US" sz="18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is the root and we are searching for node </a:t>
            </a:r>
            <a:r>
              <a:rPr lang="en-US" sz="18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0366" y="118110"/>
            <a:ext cx="3283268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Searching and Inserting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0098" y="1309192"/>
            <a:ext cx="8478298" cy="3445774"/>
          </a:xfrm>
          <a:custGeom>
            <a:avLst/>
            <a:gdLst/>
            <a:ahLst/>
            <a:cxnLst/>
            <a:rect l="l" t="t" r="r" b="b"/>
            <a:pathLst>
              <a:path w="8478298" h="3445774">
                <a:moveTo>
                  <a:pt x="0" y="0"/>
                </a:moveTo>
                <a:lnTo>
                  <a:pt x="8478297" y="0"/>
                </a:lnTo>
                <a:lnTo>
                  <a:pt x="8478297" y="3445774"/>
                </a:lnTo>
                <a:lnTo>
                  <a:pt x="0" y="3445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8284" y="4233081"/>
            <a:ext cx="209159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1136" y="3243777"/>
            <a:ext cx="216618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9240" y="4233081"/>
            <a:ext cx="274672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58838" y="2238832"/>
            <a:ext cx="351625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88853" y="4233072"/>
            <a:ext cx="35955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2981" y="3243767"/>
            <a:ext cx="341833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65650" y="1488129"/>
            <a:ext cx="357216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46227" y="4233081"/>
            <a:ext cx="35955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5013" y="3243777"/>
            <a:ext cx="30079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6932" y="4233081"/>
            <a:ext cx="339033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71246" y="2238823"/>
            <a:ext cx="346729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86367" y="4233081"/>
            <a:ext cx="295894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57035" y="3243777"/>
            <a:ext cx="354654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2800" y="514350"/>
            <a:ext cx="3625215" cy="33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Searching for </a:t>
            </a: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106</a:t>
            </a:r>
            <a:r>
              <a:rPr lang="en-US" sz="2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in the BST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850" y="785317"/>
            <a:ext cx="8478298" cy="3445774"/>
          </a:xfrm>
          <a:custGeom>
            <a:avLst/>
            <a:gdLst/>
            <a:ahLst/>
            <a:cxnLst/>
            <a:rect l="l" t="t" r="r" b="b"/>
            <a:pathLst>
              <a:path w="8478298" h="3445774">
                <a:moveTo>
                  <a:pt x="0" y="0"/>
                </a:moveTo>
                <a:lnTo>
                  <a:pt x="8478298" y="0"/>
                </a:lnTo>
                <a:lnTo>
                  <a:pt x="8478298" y="3445774"/>
                </a:lnTo>
                <a:lnTo>
                  <a:pt x="0" y="3445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0852" y="659178"/>
            <a:ext cx="1406100" cy="1082402"/>
          </a:xfrm>
          <a:custGeom>
            <a:avLst/>
            <a:gdLst/>
            <a:ahLst/>
            <a:cxnLst/>
            <a:rect l="l" t="t" r="r" b="b"/>
            <a:pathLst>
              <a:path w="1406100" h="1082402">
                <a:moveTo>
                  <a:pt x="0" y="0"/>
                </a:moveTo>
                <a:lnTo>
                  <a:pt x="1406099" y="0"/>
                </a:lnTo>
                <a:lnTo>
                  <a:pt x="1406099" y="1082402"/>
                </a:lnTo>
                <a:lnTo>
                  <a:pt x="0" y="108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33036" y="3709206"/>
            <a:ext cx="209159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888" y="2719902"/>
            <a:ext cx="216618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3993" y="3709206"/>
            <a:ext cx="274672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3590" y="1714957"/>
            <a:ext cx="351625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53605" y="3709197"/>
            <a:ext cx="35955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47734" y="2719892"/>
            <a:ext cx="341833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30403" y="964254"/>
            <a:ext cx="357216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212121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0980" y="3709206"/>
            <a:ext cx="35955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9766" y="2719902"/>
            <a:ext cx="300790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81685" y="3709206"/>
            <a:ext cx="339033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5998" y="1714948"/>
            <a:ext cx="346729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51119" y="3709206"/>
            <a:ext cx="295894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21788" y="2719902"/>
            <a:ext cx="354654" cy="31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6577" y="727377"/>
            <a:ext cx="1152106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800" b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106 &lt; 108 106 &gt; 103 106 &lt;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9960" y="1110442"/>
            <a:ext cx="8001540" cy="3252008"/>
          </a:xfrm>
          <a:custGeom>
            <a:avLst/>
            <a:gdLst/>
            <a:ahLst/>
            <a:cxnLst/>
            <a:rect l="l" t="t" r="r" b="b"/>
            <a:pathLst>
              <a:path w="8001540" h="3252008">
                <a:moveTo>
                  <a:pt x="0" y="0"/>
                </a:moveTo>
                <a:lnTo>
                  <a:pt x="8001540" y="0"/>
                </a:lnTo>
                <a:lnTo>
                  <a:pt x="8001540" y="3252008"/>
                </a:lnTo>
                <a:lnTo>
                  <a:pt x="0" y="3252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3065" y="3877295"/>
            <a:ext cx="197398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41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8203" y="2943622"/>
            <a:ext cx="204437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0548" y="3877295"/>
            <a:ext cx="259227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38555" y="1995188"/>
            <a:ext cx="331852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27519" y="3877286"/>
            <a:ext cx="339331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93862" y="2943613"/>
            <a:ext cx="322611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5649" y="1286699"/>
            <a:ext cx="337129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3579" y="3877295"/>
            <a:ext cx="339331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34317" y="2943622"/>
            <a:ext cx="283876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4075" y="3877295"/>
            <a:ext cx="319968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85971" y="1995179"/>
            <a:ext cx="327232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55256" y="3877295"/>
            <a:ext cx="279255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99457" y="2943622"/>
            <a:ext cx="334711" cy="28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166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2800" y="514350"/>
            <a:ext cx="3107373" cy="33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Inserting </a:t>
            </a:r>
            <a:r>
              <a:rPr lang="en-US" sz="21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200</a:t>
            </a:r>
            <a:r>
              <a:rPr lang="en-US" sz="21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in the BST :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191500" y="3744575"/>
            <a:ext cx="582437" cy="58243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199" y="47625"/>
              <a:ext cx="736601" cy="688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200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8040604" y="3291512"/>
            <a:ext cx="301792" cy="4423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9310" y="162297"/>
            <a:ext cx="8366287" cy="4241180"/>
          </a:xfrm>
          <a:custGeom>
            <a:avLst/>
            <a:gdLst/>
            <a:ahLst/>
            <a:cxnLst/>
            <a:rect l="l" t="t" r="r" b="b"/>
            <a:pathLst>
              <a:path w="8366287" h="4241180">
                <a:moveTo>
                  <a:pt x="0" y="0"/>
                </a:moveTo>
                <a:lnTo>
                  <a:pt x="8366287" y="0"/>
                </a:lnTo>
                <a:lnTo>
                  <a:pt x="8366287" y="4241180"/>
                </a:lnTo>
                <a:lnTo>
                  <a:pt x="0" y="4241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4685" y="267481"/>
            <a:ext cx="6038515" cy="455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Traversing a tree - recursively!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5637" y="1019167"/>
            <a:ext cx="1070284" cy="3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934" b="1">
                <a:solidFill>
                  <a:srgbClr val="5959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Pre-order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3035" y="1019167"/>
            <a:ext cx="898836" cy="3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934" b="1">
                <a:solidFill>
                  <a:srgbClr val="5959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In-order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36035" y="1052673"/>
            <a:ext cx="1185335" cy="34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934" b="1">
                <a:solidFill>
                  <a:srgbClr val="5959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Post-order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4754" y="1564180"/>
            <a:ext cx="133749" cy="26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5081" y="2095508"/>
            <a:ext cx="164030" cy="53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2. 3.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7012" y="1564180"/>
            <a:ext cx="2133952" cy="133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"Do something" with the current node </a:t>
            </a: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Traverse the left subtree Traverse the right subtree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30991" y="1561029"/>
            <a:ext cx="171651" cy="53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1. </a:t>
            </a: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44556" y="2362747"/>
            <a:ext cx="157809" cy="26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0396" y="1561029"/>
            <a:ext cx="2133952" cy="133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Traverse the left subtree </a:t>
            </a: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"Do something" with the current node </a:t>
            </a: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Traverse the right subtree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01849" y="1561029"/>
            <a:ext cx="164030" cy="532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1. 2.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6937" y="2365899"/>
            <a:ext cx="169043" cy="26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3780" y="1561029"/>
            <a:ext cx="2133952" cy="1337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547">
                <a:solidFill>
                  <a:srgbClr val="595959"/>
                </a:solidFill>
                <a:latin typeface="Proxima Nova"/>
                <a:ea typeface="Proxima Nova"/>
                <a:cs typeface="Proxima Nova"/>
                <a:sym typeface="Proxima Nova"/>
              </a:rPr>
              <a:t>Traverse the left subtree Traverse the right subtree </a:t>
            </a:r>
            <a:r>
              <a:rPr lang="en-US" sz="1547" b="1">
                <a:solidFill>
                  <a:srgbClr val="F2AD4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"Do something" with the current node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953" y="3947924"/>
            <a:ext cx="105274" cy="22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4749" y="3236616"/>
            <a:ext cx="72109" cy="22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8177" y="3947924"/>
            <a:ext cx="102749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69583" y="3947924"/>
            <a:ext cx="103210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1887" y="3236616"/>
            <a:ext cx="100906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51561" y="3947924"/>
            <a:ext cx="102749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32967" y="3907295"/>
            <a:ext cx="47625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6386" y="3195996"/>
            <a:ext cx="100906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13830" y="3907295"/>
            <a:ext cx="102749" cy="22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6"/>
              </a:lnSpc>
            </a:pPr>
            <a:r>
              <a:rPr lang="en-US" sz="135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</a:t>
            </a:r>
          </a:p>
        </p:txBody>
      </p:sp>
      <p:sp>
        <p:nvSpPr>
          <p:cNvPr id="25" name="Freeform 25"/>
          <p:cNvSpPr/>
          <p:nvPr/>
        </p:nvSpPr>
        <p:spPr>
          <a:xfrm>
            <a:off x="278146" y="2934813"/>
            <a:ext cx="2622816" cy="2208687"/>
          </a:xfrm>
          <a:custGeom>
            <a:avLst/>
            <a:gdLst/>
            <a:ahLst/>
            <a:cxnLst/>
            <a:rect l="l" t="t" r="r" b="b"/>
            <a:pathLst>
              <a:path w="2622816" h="2208687">
                <a:moveTo>
                  <a:pt x="0" y="0"/>
                </a:moveTo>
                <a:lnTo>
                  <a:pt x="2622816" y="0"/>
                </a:lnTo>
                <a:lnTo>
                  <a:pt x="2622816" y="2208687"/>
                </a:lnTo>
                <a:lnTo>
                  <a:pt x="0" y="2208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3990" t="-63592" r="-130242" b="-179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3036751" y="2934813"/>
            <a:ext cx="2622816" cy="2208687"/>
          </a:xfrm>
          <a:custGeom>
            <a:avLst/>
            <a:gdLst/>
            <a:ahLst/>
            <a:cxnLst/>
            <a:rect l="l" t="t" r="r" b="b"/>
            <a:pathLst>
              <a:path w="2622816" h="2208687">
                <a:moveTo>
                  <a:pt x="0" y="0"/>
                </a:moveTo>
                <a:lnTo>
                  <a:pt x="2622815" y="0"/>
                </a:lnTo>
                <a:lnTo>
                  <a:pt x="2622815" y="2208687"/>
                </a:lnTo>
                <a:lnTo>
                  <a:pt x="0" y="2208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3990" t="-63592" r="-130242" b="-179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802441" y="2898496"/>
            <a:ext cx="2622816" cy="2208687"/>
          </a:xfrm>
          <a:custGeom>
            <a:avLst/>
            <a:gdLst/>
            <a:ahLst/>
            <a:cxnLst/>
            <a:rect l="l" t="t" r="r" b="b"/>
            <a:pathLst>
              <a:path w="2622816" h="2208687">
                <a:moveTo>
                  <a:pt x="0" y="0"/>
                </a:moveTo>
                <a:lnTo>
                  <a:pt x="2622816" y="0"/>
                </a:lnTo>
                <a:lnTo>
                  <a:pt x="2622816" y="2208687"/>
                </a:lnTo>
                <a:lnTo>
                  <a:pt x="0" y="2208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3990" t="-63592" r="-130242" b="-1797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524000" y="3050904"/>
            <a:ext cx="602106" cy="58764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47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  <a:spcBef>
                  <a:spcPct val="0"/>
                </a:spcBef>
              </a:pPr>
              <a:r>
                <a:rPr lang="en-US" sz="1499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86214" y="4541284"/>
            <a:ext cx="543707" cy="5437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47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  <a:spcBef>
                  <a:spcPct val="0"/>
                </a:spcBef>
              </a:pPr>
              <a:r>
                <a:rPr lang="en-US" sz="14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61641" y="4660652"/>
            <a:ext cx="7747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138345" y="4591050"/>
            <a:ext cx="12763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914907" y="4476197"/>
            <a:ext cx="574511" cy="57451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9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1026" y="896371"/>
            <a:ext cx="7978624" cy="150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Suppose we want to delete a node </a:t>
            </a:r>
            <a:r>
              <a:rPr lang="en-US" sz="18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ptr</a:t>
            </a:r>
            <a:r>
              <a:rPr lang="en-US" sz="18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If ptr has </a:t>
            </a:r>
            <a:r>
              <a:rPr lang="en-US" sz="17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</a:t>
            </a: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children, then we will just replace ptr by NULL.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If ptr has only </a:t>
            </a:r>
            <a:r>
              <a:rPr lang="en-US" sz="17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one</a:t>
            </a: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child, then we will replace ptr with that child.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 If ptr has </a:t>
            </a:r>
            <a:r>
              <a:rPr lang="en-US" sz="17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two</a:t>
            </a: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children, then we will identify it’s smallest successor. Call it x.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Then we will replace ptr with x.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279400"/>
            <a:ext cx="5581650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Deleting from Binary Search Tree :</a:t>
            </a:r>
          </a:p>
        </p:txBody>
      </p:sp>
      <p:sp>
        <p:nvSpPr>
          <p:cNvPr id="4" name="Freeform 4"/>
          <p:cNvSpPr/>
          <p:nvPr/>
        </p:nvSpPr>
        <p:spPr>
          <a:xfrm>
            <a:off x="5436235" y="2147996"/>
            <a:ext cx="3136979" cy="2615456"/>
          </a:xfrm>
          <a:custGeom>
            <a:avLst/>
            <a:gdLst/>
            <a:ahLst/>
            <a:cxnLst/>
            <a:rect l="l" t="t" r="r" b="b"/>
            <a:pathLst>
              <a:path w="3136979" h="2615456">
                <a:moveTo>
                  <a:pt x="0" y="0"/>
                </a:moveTo>
                <a:lnTo>
                  <a:pt x="3136979" y="0"/>
                </a:lnTo>
                <a:lnTo>
                  <a:pt x="3136979" y="2615456"/>
                </a:lnTo>
                <a:lnTo>
                  <a:pt x="0" y="2615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51026" y="4591050"/>
            <a:ext cx="510921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Inorder traversal gives : 1 , 3 , 4 , 6 , 7 , 8 , 10 , 13 ,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70137" y="748430"/>
            <a:ext cx="3806225" cy="3646640"/>
          </a:xfrm>
          <a:custGeom>
            <a:avLst/>
            <a:gdLst/>
            <a:ahLst/>
            <a:cxnLst/>
            <a:rect l="l" t="t" r="r" b="b"/>
            <a:pathLst>
              <a:path w="3806225" h="3646640">
                <a:moveTo>
                  <a:pt x="0" y="0"/>
                </a:moveTo>
                <a:lnTo>
                  <a:pt x="3806225" y="0"/>
                </a:lnTo>
                <a:lnTo>
                  <a:pt x="3806225" y="3646640"/>
                </a:lnTo>
                <a:lnTo>
                  <a:pt x="0" y="364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8" r="-2208" b="-898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804</Words>
  <Application>Microsoft Office PowerPoint</Application>
  <PresentationFormat>On-screen Show (16:9)</PresentationFormat>
  <Paragraphs>196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Proxima Nova</vt:lpstr>
      <vt:lpstr>Consolas Bold</vt:lpstr>
      <vt:lpstr>Proxima Nova Bold</vt:lpstr>
      <vt:lpstr>Calibri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Binary_Search_Tree_3.pdf</dc:title>
  <cp:lastModifiedBy>Md. Mehedi Hasan Arzu</cp:lastModifiedBy>
  <cp:revision>4</cp:revision>
  <dcterms:created xsi:type="dcterms:W3CDTF">2006-08-16T00:00:00Z</dcterms:created>
  <dcterms:modified xsi:type="dcterms:W3CDTF">2025-11-24T05:11:35Z</dcterms:modified>
  <dc:identifier>DAG5cCMNLs4</dc:identifier>
</cp:coreProperties>
</file>